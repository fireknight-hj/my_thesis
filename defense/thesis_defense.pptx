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（不讲，翻页）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各位老师好，我是XXX，我的论文题目是《基于驱动程序替换的物联网设备固件仿真技术研究》，接下来从六个部分进行汇报。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首先是研究背景。随着物联网设备数量爆发式增长，固件安全问题日益突出，近年来 Mirai 僵尸网络和俄乌冲突中的电力系统攻击都表明固件安全形势严峻。固件仿真是进行安全测试的有效手段，但现有方法的自动化程度严重不足。具体来说，基于硬件建模的方案需要为每种外设手动建立仿真模型，工作量大且通用性差；基于驱动层替换的方案虽然避免了底层建模，但函数的定位、语义理解和替换代码生成仍然高度依赖人工干预。此外，现有方法大多缺乏自动化的反馈机制，仿真过程中出现异常时无法自动诊断和修复。因此，本文致力于解决固件仿真技术自动化程度不足这一核心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将现有方案分为三类进行对比。基于硬件建模的方案需要真实设备观测，通用性差；基于程序分析的方案能自动推断部分行为，但规则有限。基于驱动层替换的方案在降低硬件依赖和提升速度方面具有优势，但驱动函数的定位与替换仍然高度依赖人工。可以看到，无论采用哪种技术路线，驱动函数的自动化定位与替换都是核心瓶颈，这也是本文重点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针对上述问题，本文提出一种基于驱动程序替换的自动化固件仿真方法。系统将整个流程拆分为三个可衔接环节。第一个环节是静态分析，通过 MMIO 模式识别和 CodeQL 查询自动定位硬件依赖函数；第二个环节是基于 LLM 的驱动替换，对识别出的函数进行语义分类，按类别生成替换代码，并通过编译修复循环保障代码可编译通过；第三个环节是动态反馈闭环，在仿真运行中发现问题时自动诊断、修正并回归验证。核心目标不是一次性得到完美替换，而是在可控迭代中把固件从“可构建”逐步推进到“可稳定运行”。整体架构如右图所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本文的主要贡献有三点。第一，提出了硬件依赖代码的自动识别方法，通过三种 MMIO 定位模式和 CodeQL 查询，覆盖了三种芯片平台和四种操作系统。第二，探索性地将大语言模型应用于驱动函数替换任务，设计了七类分类体系和四种替换策略，通过结构化提示词引导 LLM 生成语义保持的替代代码。第三，构建了动态测试反馈闭环，通过三个智能体协同调度实现自动化的迭代优化，并集成 AFL++ 进行模糊测试验证。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首先介绍第一个模块——静态分析与识别。嵌入式固件通过 MMIO 与外设交互，外设寄存器被映射到统一地址空间。核心问题是如何从源码中自动定位所有 MMIO 访问点。我们提出三种定位模式来覆盖不同的基址传递方式：直接地址强转是最常见的模式，基址直接硬编码在代码中；间接初始化模式中，基址通过全局变量或函数参数间接传递；基址直传模式中，外设基址直接作为函数参数传入。通过这三种模式，系统能够覆盖固件中绝大多数的 MMIO 访问方式。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基于这三种模式，我们编写了 CodeQL 查询规则来定位驱动函数。查询逻辑分为三步：首先通过结构体类型名定位 MMIO 实例，然后追踪寄存器字段级别的读写访问，最后沿函数调用链和数据流传播确定哪些函数涉及硬件依赖。所有分析结果被组织为统一的数据模型，包括函数信息、MMIO 访问记录和工程级汇总结果，供后续 LLM 模块消费。右图展示了分析智能体的工作流程。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第二个模块的核心思想是先分类后替换。我们将驱动函数分为七类。INIT 类是外设初始化配置函数，只需移除寄存器写入即可，采用 Skip 策略；RECV 类负责从硬件读取数据，需要通过仿真接口注入模拟数据，采用 Redirect 策略；LOOP 类包含轮询等待硬件状态的循环，直接移除即可避免仿真死循环；IRQ 类是中断处理函数，改造为可由仿真器主动触发的事件回调；PUREDRV 类是不影响上层逻辑的纯驱动操作，根据返回类型选择 Skip 或 ReturnOK；CORE 类是操作系统内核函数，由仿真器直接支持；NODRIVER 类是纯软件逻辑函数，无需替换。从饼图可以看到，INIT 类占 39%，是硬件依赖最集中的部分；PUREDRV 占 24.3%；NODRIVER 占 20.2%，这些函数经过分析确认不需要硬件解耦。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针对需要替换的五类函数，我们设计了四种替换策略。重点介绍 Redirect 策略：它将原始的硬件操作替换为对 HAL_BE_* 注入接口的调用，仿真器在运行时通过这些接口向固件注入模拟数据。例如，HAL_UART_Receive 被替换后，当固件调用该函数时，实际执行的是 HAL_BE_In 接口，仿真器将测试数据写入固件的接收缓冲区。为保障替换质量，我们定义了语义保持性的三个递进条件：调用正确性确保调用方无需修改，返回正确性确保返回值类型兼容，可观测行为一致性确保固件能到达关键执行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提示词工程是 LLM 模块的关键技术。分类提示词采用四层结构：首先将 LLM 定位为嵌入式软件工程师，明确任务是消除硬件依赖；然后声明五个可调用的工具函数及其调用顺序，要求 LLM 先获取函数源码再确认硬件访问方式；接着嵌入七类函数的识别特征和替换策略作为分类依据；最后要求输出结构化 JSON 格式。修复提示词强调先取证再修复的原则，要求 LLM 先获取完整的执行流和错误信息，并且获取该函数的历次替换历史以避免重复失败方案。此外，通过限制步数预算避免 LLM 无效调用工具。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模块是动态测试反馈闭环，也是本文的重要创新点之一。工作流如左图所示：仿真执行智能体作为主控，加载固件并执行仿真。如果仿真成功，流程结束；如果仿真失败，智能体自动分析日志定位问题函数，触发闭环修复智能体生成修复方案；修复后由闭环构建智能体重新编译构建，再次进行回归验证。整个过程自动循环，直到固件稳定运行。终止条件包括三种情况：成功到达关键节点、连续 3 轮无新修复即判定为停滞、或达到 10 轮迭代上限。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仿真平台基于 Unicorn 引擎构建，选择 Unicorn 而非 QEMU 的原因是它在裸机 Cortex-M 场景下更轻量且可控。注入接口通过弱符号占位函数实现：链接阶段占位函数提供默认定义，运行时由宿主机 Python 处理器接管实际执行。表中列出了 7 种注入接口，覆盖了 UART 定长接收、以太网变长帧读取、块设备读写等主要外设场景。需要特别说明的是，同一套注入接口同时用于两方面的验证：一是替换正确性的动态验证，二是模糊测试的输入注入，无需为模糊测试额外搭建仿真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实现层面，系统采用四个核心技术栈。CodeQL 负责静态分析，我们为三种 MMIO 模式分别编写了查询规则；LangGraph 用于构建智能体的图式工作流，通过状态机和条件边实现分析、分类、生成、验证的自动化流程；Unicorn 作为仿真引擎，通过钩子机制实现函数拦截和数据注入；AFL++ 通过 UnicornAFL 扩展与仿真环境集成，实现覆盖率引导的模糊测试。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实验设计覆盖了 STM32、NXP、Atmel 三类芯片平台和 FreeRTOS、RT-Thread、Zephyr、裸机四种操作系统，共 35 个测试固件。固件来源包括芯片厂商官方 SDK 示例和开源社区项目。我们从五个维度进行评估：驱动函数识别与分类、替换功能正确性、反馈闭环有效性、方法效率对比，以及模糊测试验证。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个测试用例共识别出 4029 个驱动函数，其中 1580 个生成了替换代码，占比约 39.2%。从分类分布来看，INIT 类占 39%，是硬件依赖最集中的部分；PUREDRV 占 24.3%，这类函数只需简单的 Skip 或 ReturnOK 处理；NODRIVER 占 20.2%，说明有相当比例的函数经过分析确认不需要硬件解耦。还有 517 个替换代码经过了动态反馈闭环的迭代优化，平均每个固件约 15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功能正确性从两个维度验证。一是执行轨迹验证，检查系统启动、外设初始化、数据收发等关键节点是否按预期顺序执行；二是行为验证，对比替换前后的 API 调用序列。14 个代表性样本的关键节点匹配率达到 100%。编译成功率 95.3%，其中首次生成即可编译的占 79.2%，剩余部分通过编译修复循环迭代修正。启动成功率和运行稳定性均达到 100%。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反馈闭环的有效性体现在两个数据上：91.4% 的测试用例触发了至少一次替换更新，累计 517 次。特别值得关注的是，有 155 个函数属于闭环新增覆盖。这些函数在静态分析阶段被分类为不需要替换或未被识别，但在仿真运行中暴露出硬件依赖问题。例如 NXP_I2C_BareMetal 中的 CLOCK_SetDiv 函数，静态分析将其分类为纯业务逻辑函数，但实际包含轮询硬件握手标志位的 while 循环，在仿真中必然死循环。反馈闭环自动检测到这一问题并生成修复。这说明动态反馈对于弥补静态分析的不足起到了关键作用。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与方法效率对比，可以看到三个关键指标。首先，本文方法平均处理 96.4 个驱动函数，是 HALucinator 的 6.6 倍和 Para-rehosting 的 5.8 倍。其次，人工介入时间仅为 0.6 小时每固件，降低约 80%。编译成功率 95.3% 略低于手工方法的 100%，但考虑到显著的自动化优势完全可以接受。需要说明的是，LLM 自动处理时长为 24.6 小时，这部分时间由 LLM 自动执行，不占用研究人员的实际工作时间。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为验证替换后固件在实际安全测试场景中的可用性，我们选取 9 个覆盖 ETH、UART、I2C 三种外设的固件，使用 AFL++ 进行 24 小时模糊测试。结果表明，本文方法的平均基本块覆盖数量为 652.3 个，较 Halucinator 的 579.2 个增加 73.1 个，提升 12.6%。ETH 类固件的覆盖率提升最为显著，平均增加约 209 个基本块，因为网络协议栈代码量大、路径复杂，本文方法的全面替换使模糊测试能探索更多协议处理路径。UART 和 I2C 类固件基本持平，因为这些外设代码量较小，关键路径已被覆盖。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总结一下。本文针对固件仿真自动化程度不足的问题，提出了三个方面的创新：一是通过三种 MMIO 模式和 CodeQL 查询实现硬件依赖代码的自动识别；二是利用 LLM 进行函数语义理解与替换代码生成，设计了七类分类体系和四种替换策略；三是构建了动态反馈闭环实现自动化的迭代优化。当前方法的局限性在于依赖源码、平台覆盖有限。未来将围绕无源码固件支持、平台扩展和复杂驱动精度提升三个方向继续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以上是我的全部汇报，感谢各位老师的评审，请各位老师批评指正。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如果被问到分类的具体判定依据，可以展示此页。判定规则从四个维度综合判断：函数名关键词、MMIO 访问模式、控制流结构和调用上下文。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这里展示一个 Redirect 策略的具体代码示例。原始的 HAL_UART_Receive 函数通过轮询 RXNE 标志位等待硬件数据，在仿真环境中标志位永远不会置位，会导致死循环。替换后调用 HAL_BE_In 注入接口，由仿真器将测试数据写入固件缓冲区，函数正常返回。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这里举一个典型案例说明反馈闭环的价值。NXP_I2C_BareMetal 中的 CLOCK_SetDiv 函数，静态分析将其分类为不需要替换的纯业务逻辑函数。但实际代码中包含一个 while 循环轮询硬件握手标志位，在仿真环境中该标志位不会被置位，必然死循环。反馈闭环在仿真运行中检测到这一问题，LLM 分析后识别出 LOOP 模式特征，将 while 循环体注释掉，同时保留寄存器写入操作以保持时钟配置语义完整。这说明静态分析存在误判率，反馈闭环作为运行时保障机制是必要的。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如果被问到 LLM 的使用成本，可以展示此页。8 个固件的 LLM 总处理时长为 24.6 小时，总词元消耗约 1.04 亿，平均每个函数需要 116 秒。词元消耗与固件的驱动函数数量正相关。需要注意的是，这部分时间由 LLM 自动执行，不占用研究人员的实际工作时间，且可以通过模型量化、缓存机制等进一步优化成本。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B4C8E6"/>
                </a:solidFill>
                <a:latin typeface="微软雅黑"/>
              </a:defRPr>
            </a:pPr>
            <a:r>
              <a:t>本科毕业论文答辩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基于驱动程序替换的物联网设备</a:t>
            </a:r>
            <a:br/>
            <a:r>
              <a:t>固件仿真技术研究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6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答辩人：XXX          指导教师：XXX  教授</a:t>
            </a:r>
          </a:p>
          <a:p>
            <a:pPr algn="ctr">
              <a:spcBef>
                <a:spcPts val="6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</a:p>
          <a:p>
            <a:pPr algn="ctr">
              <a:spcBef>
                <a:spcPts val="6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华中科技大学  XXX  学院</a:t>
            </a:r>
          </a:p>
          <a:p>
            <a:pPr algn="ctr">
              <a:spcBef>
                <a:spcPts val="6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</a:p>
          <a:p>
            <a:pPr algn="ctr">
              <a:spcBef>
                <a:spcPts val="6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2026 年 X 月 X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731520" cy="54864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19072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t>研究背景与问题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731520" cy="54864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50592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t>方法概述与主要贡献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731520" cy="54864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182112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t>系统设计（三个核心模块）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840480"/>
            <a:ext cx="731520" cy="54864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913632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t>系统实现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731520" cy="54864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645152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t>实验验证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03520"/>
            <a:ext cx="731520" cy="54864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376672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研究背景与核心问题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研究背景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t>  物联网设备数量爆发式增长，固件安全问题日益突出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t>  （Mirai 僵尸网络 DDoS 攻击、俄乌冲突 Industroyer 电力系统攻击等）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t>  固件仿真（Firmware Re-Hosting）是进行固件安全测试的有效手段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E67E22"/>
                </a:solidFill>
                <a:latin typeface="微软雅黑"/>
              </a:defRPr>
            </a:pPr>
            <a:r>
              <a:t>核心问题：自动化程度不足，人工成本高昂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t>  基于硬件建模：需为每种外设手动建立仿真模型，工作量大且通用性差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t>  基于驱动层替换（如 HALucinator）：函数定位、语义理解、替换代码生成仍高度依赖人工干预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t>  缺乏自动化反馈机制：仿真异常时无法自动诊断和修复，依赖分析人员经验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现有固件仿真技术对比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典型工具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缺点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 b="1">
                          <a:latin typeface="微软雅黑"/>
                        </a:defRPr>
                      </a:pPr>
                      <a:r>
                        <a:t>基于硬件建模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Pretender, sEmu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模拟精度高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需要真实设备，通用性差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 b="1">
                          <a:latin typeface="微软雅黑"/>
                        </a:defRPr>
                      </a:pPr>
                      <a:r>
                        <a:t>基于程序分析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P2IM, Fuzzware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自动推断部分行为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推断规则有限，难以覆盖复杂外设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 b="1">
                          <a:latin typeface="微软雅黑"/>
                        </a:defRPr>
                      </a:pPr>
                      <a:r>
                        <a:t>基于驱动层替换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HALucinator,</a:t>
                      </a:r>
                    </a:p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SAFIREFUZZ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降低硬件依赖，速度快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函数定位与替换依赖人工，</a:t>
                      </a:r>
                    </a:p>
                    <a:p>
                      <a:pPr>
                        <a:defRPr sz="1400">
                          <a:latin typeface="微软雅黑"/>
                        </a:defRPr>
                      </a:pPr>
                      <a:r>
                        <a:t>自动化不足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E67E22"/>
                </a:solidFill>
                <a:latin typeface="微软雅黑"/>
              </a:defRPr>
            </a:pPr>
            <a:r>
              <a:t>驱动函数的定位与替换是所有方案的共同瓶颈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本文方法概述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DCF0"/>
                </a:solidFill>
                <a:latin typeface="微软雅黑"/>
              </a:defRPr>
            </a:pPr>
            <a:r>
              <a:t>三环节可衔接的自动化替换流程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2926080" cy="256032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静态分析</a:t>
            </a:r>
          </a:p>
          <a:p>
            <a:pPr algn="ctr">
              <a:defRPr sz="1600">
                <a:solidFill>
                  <a:srgbClr val="DCE6F0"/>
                </a:solidFill>
                <a:latin typeface="微软雅黑"/>
              </a:defRPr>
            </a:pPr>
            <a:r>
              <a:t>自动识别硬件依赖函数</a:t>
            </a:r>
            <a:br/>
            <a:r>
              <a:t>（MMIO 模式识别 + CodeQL 查询）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56032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67E22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2926080" cy="256032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LLM 驱动替换</a:t>
            </a:r>
          </a:p>
          <a:p>
            <a:pPr algn="ctr">
              <a:defRPr sz="1600">
                <a:solidFill>
                  <a:srgbClr val="DCE6F0"/>
                </a:solidFill>
                <a:latin typeface="微软雅黑"/>
              </a:defRPr>
            </a:pPr>
            <a:r>
              <a:t>函数语义分类 → 按类别生成替换代码</a:t>
            </a:r>
            <a:br/>
            <a:r>
              <a:t>→ 编译修复循环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56032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67E22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2926080" cy="256032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动态反馈闭环</a:t>
            </a:r>
          </a:p>
          <a:p>
            <a:pPr algn="ctr">
              <a:defRPr sz="1600">
                <a:solidFill>
                  <a:srgbClr val="DCE6F0"/>
                </a:solidFill>
                <a:latin typeface="微软雅黑"/>
              </a:defRPr>
            </a:pPr>
            <a:r>
              <a:t>仿真运行 → 异常诊断</a:t>
            </a:r>
            <a:br/>
            <a:r>
              <a:t>→ 增量修正 → 回归验证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E67E22"/>
                </a:solidFill>
                <a:latin typeface="微软雅黑"/>
              </a:defRPr>
            </a:pPr>
            <a:r>
              <a:t>核心目标：在可控迭代中把固件从“可构建”推进到“可稳定运行”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69696"/>
                </a:solidFill>
                <a:latin typeface="微软雅黑"/>
              </a:defRPr>
            </a:pPr>
            <a:r>
              <a:t>配图：论文图3.1 系统整体架构图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主要贡献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3F88"/>
                </a:solidFill>
                <a:latin typeface="微软雅黑"/>
              </a:defRPr>
            </a:pPr>
            <a:r>
              <a:t>(1) 硬件依赖代码自动识别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• 提出三种 MMIO 定位模式（直接地址强转、间接初始化、基址直传）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• 基于 CodeQL 查询自动定位驱动函数，构建可查询驱动知识库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• 覆盖 STM32、NXP、Atmel 三类平台 + FreeRTOS、RT-Thread、Zephyr、裸机四种系统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3F88"/>
                </a:solidFill>
                <a:latin typeface="微软雅黑"/>
              </a:defRPr>
            </a:pPr>
            <a:r>
              <a:t>(2) 基于 LLM 的驱动函数语义理解与替换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• 提出七类函数分类体系，设计四种替换策略（Skip / ReturnOK / Redirect / Event）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• 通过结构化提示词模板引导 LLM 生成语义保持的替代代码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3F88"/>
                </a:solidFill>
                <a:latin typeface="微软雅黑"/>
              </a:defRPr>
            </a:pPr>
            <a:r>
              <a:t>(3) 动态测试反馈闭环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• 设计“运行→诊断→修复→回归”自动化闭环，三个智能体协同调度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• 集成 AFL++ 模糊测试，复用仿真环境与注入接口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模块一：MMIO 访问模式识别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DCF0"/>
                </a:solidFill>
                <a:latin typeface="微软雅黑"/>
              </a:defRPr>
            </a:pPr>
            <a:r>
              <a:t>驱动函数接口静态分析与识别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003F88"/>
                </a:solidFill>
                <a:latin typeface="微软雅黑"/>
              </a:defRPr>
            </a:pPr>
            <a:r>
              <a:t>嵌入式固件通过内存映射 I/O（MMIO）与外设交互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寄存器映射到统一地址空间，通过普通内存读写指令访问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核心问题：如何从源码中自动定位所有 MMIO 访问点？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E67E22"/>
                </a:solidFill>
                <a:latin typeface="微软雅黑"/>
              </a:defRPr>
            </a:pPr>
            <a:r>
              <a:t>三种 MMIO 定位模式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003F88"/>
                </a:solidFill>
                <a:latin typeface="微软雅黑"/>
              </a:defRPr>
            </a:pPr>
            <a:r>
              <a:t>1. 直接地址强转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GPIOA-&gt;ODR = val  —  基址直接硬编码在代码中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003F88"/>
                </a:solidFill>
                <a:latin typeface="微软雅黑"/>
              </a:defRPr>
            </a:pPr>
            <a:r>
              <a:t>2. 间接初始化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ptr = &amp;USART1; ptr-&gt;BRR = val  —  基址通过变量间接传递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003F88"/>
                </a:solidFill>
                <a:latin typeface="微软雅黑"/>
              </a:defRPr>
            </a:pPr>
            <a:r>
              <a:t>3. 基址直传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HAL_UART_Init(&amp;huart1)  —  基址作为函数参数传入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模块一：CodeQL 查询与数据模型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CodeQL 驱动函数定位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基于三种 MMIO 模式编写 CodeQL 查询规则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自动提取：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MMIO 结构体实例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→ 寄存器字段访问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→ 函数调用链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数据流追踪：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将外设基址常量作为源点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沿赋值和参数传播追踪到字段解引用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统一数据模型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  FunctionInfo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函数签名、调用关系、MMIO 访问集合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  MMIOAccess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寄存器地址、访问类型（读/写/读-改-写）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  ProjectAnalysisResult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工程级驱动函数汇总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E67E22"/>
                </a:solidFill>
                <a:latin typeface="微软雅黑"/>
              </a:defRPr>
            </a:pPr>
            <a:r>
              <a:t>驱动函数定位准则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函数内部直接包含 MMIO 访问，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或调用含 MMIO 访问的函数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模块二：七类函数分类体系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DCF0"/>
                </a:solidFill>
                <a:latin typeface="微软雅黑"/>
              </a:defRPr>
            </a:pPr>
            <a:r>
              <a:t>核心范式：先分类后替换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语义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替换方式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典型函数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INIT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外设初始化配置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Skip（移除寄存器写入）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HAL_UART_Init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RECV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从硬件读取数据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Redirect（仿真注入数据）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HAL_UART_Receive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LOOP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轮询等待硬件状态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Skip（移除死循环等待）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HAL_UART_WaitOnFlag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IRQ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中断处理/回调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Event（改为事件回调）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UART_IRQHandler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PUREDRV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纯驱动操作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Skip / ReturnOK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HAL_GPIO_DeInit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OS 内核函数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仿真器直接支持（不替换）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SysTick_Handler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NODRIVER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纯软件逻辑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不替换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main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模块二：替换策略与验证机制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适用类别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核心思路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仿真接口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Skip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INIT,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移除函数体，保留调用路径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无需注入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ReturnOK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PUREDRV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保留签名，返回成功状态值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无需注入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Redirect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RECV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硬件操作替换为 HAL_BE_* 注入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HAL_BE_In,</a:t>
                      </a:r>
                    </a:p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HAL_BE_ENET_ReadFrame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IRQ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改造为可触发的事件回调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HAL_BE_* + 事件触发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62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E67E22"/>
                </a:solidFill>
                <a:latin typeface="微软雅黑"/>
              </a:defRPr>
            </a:pPr>
            <a:r>
              <a:t>语义保持性三条件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1. 调用正确性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   替换函数签名与原函数一致，调用方无需修改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2. 返回正确性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   所有执行路径的返回值与声明类型兼容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3. 可观测行为一致性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     固件到达关键执行节点，无崩溃/死循环/断言失败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模块二：LLM 提示词工程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分类提示词（四层结构）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1. 角色定义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嵌入式软件工程师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消除驱动函数的硬件依赖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2. 工具说明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GetFunctionInfo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→ GetMMIOFunctionInfo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→ [按需调用其他工具]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3. 分类策略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七类函数的识别特征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替换策略和关键约束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4. 输出格式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结构化 JSON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（类别、理由、替换代码）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修复提示词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先取证再修复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要求 LLM 先调用诊断工具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获取完整执行流和错误信息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上下文完整获取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修复前必须获取该函数的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历次替换历史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步数预算控制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限制最多分析 3-5 个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可疑函数后立即生成修复方案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模块三：动态测试反馈闭环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DCF0"/>
                </a:solidFill>
                <a:latin typeface="微软雅黑"/>
              </a:defRPr>
            </a:pPr>
            <a:r>
              <a:t>工作流：运行 → 诊断 → 修复 → 回归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三个智能体分工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仿真执行智能体（主控）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加载固件、执行仿真、判断运行状态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触发诊断/修复/回归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闭环修复智能体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基于错误日志分析问题函数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生成增量修复方案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闭环构建智能体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应用修复代码，执行编译构建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返回编译状态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终止条件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  成功终止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固件到达预设关键节点且无崩溃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E74C3C"/>
                </a:solidFill>
                <a:latin typeface="微软雅黑"/>
              </a:defRPr>
            </a:pPr>
            <a:r>
              <a:t>  失败终止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连续 3 轮无新修复（停滞检测）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达到 10 轮上限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不可修复错误类型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969696"/>
                </a:solidFill>
                <a:latin typeface="微软雅黑"/>
              </a:defRPr>
            </a:pPr>
            <a:r>
              <a:t>  配图：论文动态测试反馈闭环工作流图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模块三：仿真平台与注入接口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仿真平台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基于 Unicorn ARM 模拟器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轻量级、可编程钩子机制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支持 ARMv7-M Thumb 指令集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弱符号占位函数实现注入接口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运行时由宿主机 Python 处理器接管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7 种 HAL_BE_* 注入接口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HAL_BE_return_0：恒定返回 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HAL_BE_In：定长接收（UART）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HAL_BE_ENET_ReadFrame：变长帧读取（ETH）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HAL_BE_Block_Read/Write：块设备读写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  同一套接口同时用于：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替换正确性动态验证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AFL++ 模糊测试输入注入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系统实现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技术栈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静态分析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CodeQL（MMIO 查询 + 数据流追踪）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智能体框架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LangGraph（状态机工作流 + 检查点机制）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仿真引擎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Unicorn（ARMv7-M Thumb 指令集模拟）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模糊测试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AFL++（通过 UnicornAFL 扩展集成）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关键实现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CodeQL 查询规则：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覆盖直接地址强转、间接初始化、基址直传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LangGraph 状态机：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分析→分类→生成→验证→编译修复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UnicornAFL 集成：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fork-server 协议 + 共享内存位图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完成覆盖率反馈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实验设计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测试覆盖范围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芯片平台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STM32、NXP、Atmel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操作系统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FreeRTOS、RT-Thread、Zephyr、裸机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测试用例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35 个固件（官方 SDK + 开源社区）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外设类型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UART、I2C、以太网、Flash 文件系统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评估维度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1. 驱动函数识别与分类统计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2. 替换功能正确性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（编译/启动成功率、运行稳定性）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3. 动态反馈闭环有效性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4. 方法效率对比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5. 模糊测试验证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（基本块覆盖率对比）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实验结果：驱动函数识别与分类统计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识别统计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35 个测试用例共识别 4,029 个驱动函数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（平均 115.1 个/固件）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E67E22"/>
                </a:solidFill>
                <a:latin typeface="微软雅黑"/>
              </a:defRPr>
            </a:pPr>
            <a:r>
              <a:t>  1,580 个（39.2%）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生成了替换代码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（平均 45.1 个/固件）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E67E22"/>
                </a:solidFill>
                <a:latin typeface="微软雅黑"/>
              </a:defRPr>
            </a:pPr>
            <a:r>
              <a:t>  517 个替换代码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经过动态反馈闭环迭代优化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（平均 14.8 个/固件）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分类分布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INIT:  39.0%  （初始化配置）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PUREDRV:  24.3%  （纯驱动操作）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NODRIVER:  20.2%  （纯软件逻辑）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CORE:  5.1%  （OS 内核）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IRQ:  ~4%  （中断处理）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LOOP:  ~4%  （轮询等待）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INIT 类硬件依赖最集中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NODRIVER 类无需替换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实验结果：替换功能正确性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验证方法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执行轨迹验证：检查关键节点函数是否按预期顺序执行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行为验证：对比替换前后的 API 调用序列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E67E22"/>
                </a:solidFill>
                <a:latin typeface="微软雅黑"/>
              </a:defRPr>
            </a:pPr>
            <a:r>
              <a:t>关键指标（14 个代表性样本）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6576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编译成功率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67E22"/>
                          </a:solidFill>
                          <a:latin typeface="微软雅黑"/>
                        </a:defRPr>
                      </a:pPr>
                      <a:r>
                        <a:t>95.3%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首次生成 79.2%，经编译修复循环提升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启动成功率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67E22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所有固件均成功启动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运行稳定性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67E22"/>
                          </a:solidFill>
                          <a:latin typeface="微软雅黑"/>
                        </a:defRPr>
                      </a:pPr>
                      <a:r>
                        <a:t>无崩溃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所有固件在仿真环境中稳定运行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关键节点匹配率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67E22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/>
                        </a:defRPr>
                      </a:pPr>
                      <a:r>
                        <a:t>系统启动、外设初始化、数据收发、任务调度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实验结果：动态反馈闭环有效性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E67E22"/>
                </a:solidFill>
                <a:latin typeface="微软雅黑"/>
              </a:defRPr>
            </a:pPr>
            <a:r>
              <a:t>32 个用例（91.4%）触发了至少一次替换更新，累计 517 次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003F88"/>
                </a:solidFill>
                <a:latin typeface="微软雅黑"/>
              </a:defRPr>
            </a:pPr>
            <a:r>
              <a:t>155 个函数属于“闭环新增覆盖”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静态分析阶段分类为 NODRIVER 或未被识别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仿真运行中暴露出硬件依赖问题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由反馈闭环补充生成替换代码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若去除动态反馈闭环，这 155 个函数将缺失替换，对应执行路径受阻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003F88"/>
                </a:solidFill>
                <a:latin typeface="微软雅黑"/>
              </a:defRPr>
            </a:pPr>
            <a:r>
              <a:t>典型案例：NXP_I2C_BareMetal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CLOCK_SetDiv 被静态分析分类为 NODRIVER（纯业务逻辑）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实际包含 while 循环轮询硬件握手标志位 → 仿真中死循环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  反馈闭环自动识别并修复，移除死循环等待逻辑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实验结果：方法效率对比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本文方法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HALucinator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Para-rehosting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平均处理驱动函数数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96.4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14.6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16.6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平均人工介入时间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0.6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3.0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4.9 h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人工介入降低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-80%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驱动函数数量提升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5.8× / 6.6×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编译成功率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95.3%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LLM 自动处理时长 24.6h（8 个固件），不占用研究人员工作时间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LLM 处理可自动化、支持并行批处理，且不占用研究人员持续在线时间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实验结果：模糊测试验证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DCF0"/>
                </a:solidFill>
                <a:latin typeface="微软雅黑"/>
              </a:defRPr>
            </a:pPr>
            <a:r>
              <a:t>AFL++ × 9 个固件 × 24 小时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46304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本文方法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HALucinator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微软雅黑"/>
                        </a:defRPr>
                      </a:pPr>
                      <a:r>
                        <a:t>平均基本块覆盖数量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微软雅黑"/>
                        </a:defRPr>
                      </a:pPr>
                      <a:r>
                        <a:t>652.3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微软雅黑"/>
                        </a:defRPr>
                      </a:pPr>
                      <a:r>
                        <a:t>579.2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微软雅黑"/>
                        </a:defRPr>
                      </a:pPr>
                      <a:r>
                        <a:t>平均执行速度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微软雅黑"/>
                        </a:defRPr>
                      </a:pPr>
                      <a:r>
                        <a:t>29.4 exec/s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微软雅黑"/>
                        </a:defRPr>
                      </a:pPr>
                      <a:r>
                        <a:t>29.5 exec/s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latin typeface="微软雅黑"/>
                        </a:defRPr>
                      </a:pPr>
                      <a:r>
                        <a:t>基本块增量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67E22"/>
                          </a:solidFill>
                          <a:latin typeface="微软雅黑"/>
                        </a:defRPr>
                      </a:pPr>
                      <a:r>
                        <a:t>+73.1 (+12.6%)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9 个样本中 7 个覆盖率正增长，2 个轻微负增长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ETH 类固件优势突出（平均 +209 个基本块），UART/I2C 类基本持平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网络协议栈代码量大、路径复杂，全面替换使模糊测试能探索更多协议处理路径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三个创新点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1. 硬件依赖代码自动识别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三种 MMIO 模式 + CodeQL 查询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2. LLM 驱动函数语义理解与替换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七类分类 + 四种策略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t>  3. 动态测试反馈闭环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自动化迭代 + 模糊测试集成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局限性与未来工作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E74C3C"/>
                </a:solidFill>
                <a:latin typeface="微软雅黑"/>
              </a:defRPr>
            </a:pPr>
            <a:r>
              <a:t>  局限性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依赖源码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平台覆盖有限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复杂驱动函数精度有待提升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27AE60"/>
                </a:solidFill>
                <a:latin typeface="微软雅黑"/>
              </a:defRPr>
            </a:pPr>
            <a:r>
              <a:t>  未来工作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支持无源码固件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扩展平台覆盖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提升复杂驱动精度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致  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感谢导师 XXX 教授的悉心指导与耐心帮助</a:t>
            </a:r>
          </a:p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</a:p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感谢各位评审专家的宝贵意见</a:t>
            </a:r>
          </a:p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</a:p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微软雅黑"/>
              </a:defRPr>
            </a:pPr>
            <a:r>
              <a:t>感谢家人和同学朋友的支持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备用A：七类函数分类判定规则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DCF0"/>
                </a:solidFill>
                <a:latin typeface="微软雅黑"/>
              </a:defRPr>
            </a:pPr>
            <a:r>
              <a:t>分类判定规则细节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判定条件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INIT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函数名含 Init/Config/Setup；多个 MMIO 寄存器顺序写；位于启动阶段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RECV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函数名含 Receive/Read/Get/Input；含 MMIO 数据寄存器读；参数含缓冲区指针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LOOP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函数名含 Wait/Poll/Loop；以 MMIO 状态寄存器为条件的 while 循环；循环体无实质数据处理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IRQ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函数名含 IRQHandler/Callback/Handler；注册为中断服务例程；含中断状态清标志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PUREDRV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仅含简单 MMIO 操作；返回状态枚举或 void；函数名含 DeInit/MspDeInit/Flush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OS 内核函数（rt_thread_init, SysTick_Handler）；由仿真器直接提供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F88"/>
                          </a:solidFill>
                          <a:latin typeface="微软雅黑"/>
                        </a:defRPr>
                      </a:pPr>
                      <a:r>
                        <a:t>NODRIVER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无直接 MMIO 访问；纯软件逻辑（参数整理、句柄映射、状态转发）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备用B：Redirect 策略代码示例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DCF0"/>
                </a:solidFill>
                <a:latin typeface="微软雅黑"/>
              </a:defRPr>
            </a:pPr>
            <a:r>
              <a:t>HAL_UART_Receive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E74C3C"/>
                </a:solidFill>
                <a:latin typeface="微软雅黑"/>
              </a:defRPr>
            </a:pPr>
            <a:r>
              <a:t>原始函数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HAL_StatusTypeDef HAL_UART_receive(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UART_HandleTypeDef *huart,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uint8_t *pData,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uint16_t Size,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uint32_t Timeout)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// ... MMIO 寄存器操作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while (__HAL_UART_GET_FLAG(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 huart, UART_FLAG_RXNE)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 == RESET);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*pData = (uint8_t)(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  huart-&gt;Instance-&gt;RDR &amp; 0xFF);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return HAL_OK;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27AE60"/>
                </a:solidFill>
                <a:latin typeface="微软雅黑"/>
              </a:defRPr>
            </a:pPr>
            <a:r>
              <a:t>替换函数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HAL_StatusTypeDef HAL_UART_receive(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UART_HandleTypeDef *huart,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uint8_t *pData,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uint16_t Size,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  uint32_t Timeout)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HAL_BE_In(pData, Size);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return HAL_OK;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仿真器通过 HAL_BE_In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  将测试数据写入固件缓冲区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备用C：反馈闭环典型案例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DCF0"/>
                </a:solidFill>
                <a:latin typeface="微软雅黑"/>
              </a:defRPr>
            </a:pPr>
            <a:r>
              <a:t>NXP_I2C_BareMetal — 静态误分类的运行时修正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问题描述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CLOCK_SetDiv 被静态分析分类为 NODRIVER（纯业务逻辑）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实际包含 while 循环轮询 CCM-&gt;CDHIPR 硬件握手标志位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仿真中标志位永远不置位 → 死循环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003F88"/>
                </a:solidFill>
                <a:latin typeface="微软雅黑"/>
              </a:defRPr>
            </a:pPr>
            <a:r>
              <a:t>修复过程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反馈闭环自动诊断 → 识别 LOOP 模式 → 移除 while 循环 → 修复成功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200" b="1">
                <a:solidFill>
                  <a:srgbClr val="E67E22"/>
                </a:solidFill>
                <a:latin typeface="微软雅黑"/>
              </a:defRPr>
            </a:pPr>
            <a:r>
              <a:t>启示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静态分析阶段的 LLM 分类存在误判率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反馈闭环作为运行时保障机制有效弥补这一不足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备用D：LLM 计算资源消耗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4630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F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8 个固件 LLM 总处理时长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24.6 小时（平均 3.1 小时/固件）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总词元消耗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约 1.04 亿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平均每函数 LLM 处理时长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约 116 秒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平均每函数词元消耗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latin typeface="微软雅黑"/>
                        </a:defRPr>
                      </a:pPr>
                      <a:r>
                        <a:t>约 13.5 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词元消耗与驱动函数数量正相关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LLM 处理为自动化执行时间，不占用研究人员工作时间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t>未来可通过模型量化、缓存机制等进一步降低成本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